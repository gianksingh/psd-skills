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51790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20095" y="512064"/>
            <a:ext cx="822960" cy="292608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820095" y="5120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PSD WEB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OF M/D–M/D/YY · MON–SUN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Ecom Merch Weekly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[Optional: one line on the week]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F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102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6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40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 WoW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102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6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5340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 pts WoW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5102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6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sales (context)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5340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 WoW · +#% YoY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2A2A2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Prepared for the Monday merch meeting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156655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manual inputs missing · see run notes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week at a glance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0230307" y="411480"/>
            <a:ext cx="1412748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30307" y="411480"/>
            <a:ext cx="1412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M/D–M/D/YY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 (all sessions) · Shopify via Polar · YoY = GA4 on both sides · Week M/D–M/D/YY · vs M/D–M/D; YoY M/D–M/D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30175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B3F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3728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106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 WoW · +#% YoY (GA4)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852928"/>
            <a:ext cx="30175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898648"/>
            <a:ext cx="30175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4244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621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 pts WoW · -# pts YoY (GA4)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904488"/>
            <a:ext cx="30175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50208"/>
            <a:ext cx="30175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4759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sales (context)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7137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 WoW · +#% YoY · AOV $#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956048"/>
            <a:ext cx="30175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001768"/>
            <a:ext cx="301752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orders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5275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(Tapcart)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7652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orders · $#K (+#%) · AOV $# (-#%)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977640" y="1847088"/>
            <a:ext cx="7665415" cy="4206240"/>
          </a:xfrm>
          <a:prstGeom prst="roundRect">
            <a:avLst>
              <a:gd name="adj" fmla="val 1304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4251960" y="2048256"/>
            <a:ext cx="7116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LEADERSHIP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251960" y="2441448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9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63440" y="2953512"/>
            <a:ext cx="6705295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51960" y="3063240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9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663440" y="3575304"/>
            <a:ext cx="6705295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251960" y="3685032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9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663440" y="4197096"/>
            <a:ext cx="6705295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51960" y="4306824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9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663440" y="4818888"/>
            <a:ext cx="6705295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251960" y="4928616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9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663440" y="5440680"/>
            <a:ext cx="6705295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51960" y="5641848"/>
            <a:ext cx="7116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week's follow-ups: none were open.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changed this week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MISSING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31936" y="411480"/>
            <a:ext cx="1640434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31936" y="411480"/>
            <a:ext cx="1640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 · EMAIL · SMS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Jamie's what's-live input · Klaviyo · Polar (Postscript utm_campaign) · Week M/D–M/D/YY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737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input: </a:t>
            </a:r>
            <a:pPr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live: Campaign landing page (Halloween Shop) changes · What's live: Top PLP changes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536278" y="2048256"/>
            <a:ext cx="2106778" cy="2633472"/>
          </a:xfrm>
          <a:prstGeom prst="rect">
            <a:avLst/>
          </a:prstGeom>
          <a:solidFill>
            <a:srgbClr val="ECEBE5"/>
          </a:solidFill>
          <a:ln w="12700">
            <a:solidFill>
              <a:srgbClr val="B9B7AE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9673438" y="2048256"/>
            <a:ext cx="183245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· 4:5</a:t>
            </a:r>
            <a:endParaRPr lang="en-US" sz="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 M/D (mobile)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46620" y="2048256"/>
            <a:ext cx="2106778" cy="2633472"/>
          </a:xfrm>
          <a:prstGeom prst="rect">
            <a:avLst/>
          </a:prstGeom>
          <a:solidFill>
            <a:srgbClr val="ECEBE5"/>
          </a:solidFill>
          <a:ln w="12700">
            <a:solidFill>
              <a:srgbClr val="B9B7AE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7383780" y="2048256"/>
            <a:ext cx="183245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· 4:5</a:t>
            </a:r>
            <a:endParaRPr lang="en-US" sz="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 M/D (mobile)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2048256"/>
            <a:ext cx="642366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12848"/>
          <a:ext cx="6021324" cy="914400"/>
        </p:xfrm>
        <a:graphic>
          <a:graphicData uri="http://schemas.openxmlformats.org/drawingml/2006/table">
            <a:tbl>
              <a:tblPr/>
              <a:tblGrid>
                <a:gridCol w="691639"/>
                <a:gridCol w="2115600"/>
                <a:gridCol w="1301908"/>
                <a:gridCol w="1912177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SITE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EMAIL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SMS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Homepage refresh: hero Halloween Shop (Ghostface), secondary Jaxson Dart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Tue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Ghost Face Body Count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Ghost Face – Body Count (# sessions)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Wed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Thu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Homepage refresh: hero Halloween Shop (Ghostface), secondary Keep A Breast // BIGFACE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A Breast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A Breast (# sessions)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Fri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BIGFACE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BIGFACE – Core Logo, Many Faces, Face Hunter (# sessions)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Sat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Half Skelly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Shop – Half Skelly (# sessions)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Sun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Multipacks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Ghost Face – Multi-packs (# sessions)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0" name="Text 16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0" name="Text 26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Site and page performance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Sitewide traffic, PLPs and collections, top products, the homepage and search.</a:t>
            </a:r>
            <a:endParaRPr lang="en-US" sz="1500" dirty="0"/>
          </a:p>
        </p:txBody>
      </p:sp>
      <p:pic>
        <p:nvPicPr>
          <p:cNvPr id="6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Sitewide traffic and conversion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VS M/D–M/D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pixel, PSD Web view, all sessions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847088"/>
            <a:ext cx="2743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B3F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319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557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 WoW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746248"/>
            <a:ext cx="274320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791968"/>
            <a:ext cx="2743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264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Add-to-cart rate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502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 pts WoW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691128"/>
            <a:ext cx="274320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736848"/>
            <a:ext cx="2743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209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447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 pts WoW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11880" y="1847088"/>
            <a:ext cx="8031175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13048" y="1993392"/>
            <a:ext cx="7628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SESSIONS BY DAY · THIS WEEK VS SAME DAY LAST WEEK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009218" y="2709379"/>
            <a:ext cx="326950" cy="118596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6" name="Shape 23"/>
          <p:cNvSpPr/>
          <p:nvPr/>
        </p:nvSpPr>
        <p:spPr>
          <a:xfrm>
            <a:off x="4372744" y="2623072"/>
            <a:ext cx="326950" cy="1272272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813048" y="2489923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43.9K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813048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 M/D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3813048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99052" y="2580405"/>
            <a:ext cx="326950" cy="131493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1" name="Shape 28"/>
          <p:cNvSpPr/>
          <p:nvPr/>
        </p:nvSpPr>
        <p:spPr>
          <a:xfrm>
            <a:off x="5462579" y="2641084"/>
            <a:ext cx="326950" cy="1254260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902882" y="2360949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48.7K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902882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Tue M/D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902882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88886" y="2701602"/>
            <a:ext cx="326950" cy="119374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6" name="Shape 33"/>
          <p:cNvSpPr/>
          <p:nvPr/>
        </p:nvSpPr>
        <p:spPr>
          <a:xfrm>
            <a:off x="6552413" y="2739786"/>
            <a:ext cx="326950" cy="1155558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992716" y="2482146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44.2K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992716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Wed M/D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992716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278721" y="2508248"/>
            <a:ext cx="326950" cy="1387096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1" name="Shape 38"/>
          <p:cNvSpPr/>
          <p:nvPr/>
        </p:nvSpPr>
        <p:spPr>
          <a:xfrm>
            <a:off x="7642247" y="2772516"/>
            <a:ext cx="326950" cy="1122828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082551" y="2288792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51.4K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7082551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 M/D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082551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368555" y="2496312"/>
            <a:ext cx="326950" cy="139903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6" name="Shape 43"/>
          <p:cNvSpPr/>
          <p:nvPr/>
        </p:nvSpPr>
        <p:spPr>
          <a:xfrm>
            <a:off x="8732081" y="2623153"/>
            <a:ext cx="326950" cy="1272191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172385" y="2276856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51.8K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8172385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Fri M/D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172385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458389" y="2627906"/>
            <a:ext cx="326950" cy="1267438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1" name="Shape 48"/>
          <p:cNvSpPr/>
          <p:nvPr/>
        </p:nvSpPr>
        <p:spPr>
          <a:xfrm>
            <a:off x="9821915" y="2544893"/>
            <a:ext cx="326950" cy="1350451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9262219" y="2408450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46.9K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9262219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 M/D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9262219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10548223" y="2648807"/>
            <a:ext cx="326950" cy="12465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6" name="Shape 53"/>
          <p:cNvSpPr/>
          <p:nvPr/>
        </p:nvSpPr>
        <p:spPr>
          <a:xfrm>
            <a:off x="10911749" y="2618967"/>
            <a:ext cx="326950" cy="127637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0352053" y="2429351"/>
            <a:ext cx="719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46.2K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0352053" y="3950208"/>
            <a:ext cx="1089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Sun M/D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10352053" y="4151376"/>
            <a:ext cx="1089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CVR #%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3813048" y="3895344"/>
            <a:ext cx="7628839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813048" y="4416552"/>
            <a:ext cx="182880" cy="10058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050792" y="43525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week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047488" y="4416552"/>
            <a:ext cx="182880" cy="10058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285232" y="43525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day last week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66" name="Text 63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71" name="Text 68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76" name="Text 73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PLPs and featured collections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VISITED · LANDED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 + Shopify via Polar · visited = viewed the page at any point · landed = first page of the session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5758882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5356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# PLPS BY VISITED SESSIONS · NEW = NOT IN LAST WEEK'S TOP #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67712"/>
          <a:ext cx="5356546" cy="914400"/>
        </p:xfrm>
        <a:graphic>
          <a:graphicData uri="http://schemas.openxmlformats.org/drawingml/2006/table">
            <a:tbl>
              <a:tblPr/>
              <a:tblGrid>
                <a:gridCol w="273692"/>
                <a:gridCol w="1876746"/>
                <a:gridCol w="742879"/>
                <a:gridCol w="664681"/>
                <a:gridCol w="703780"/>
                <a:gridCol w="625582"/>
                <a:gridCol w="469187"/>
              </a:tblGrid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#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PLP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VISITED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WOW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LANDED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BOUNCE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Jaxson Dart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A Breast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B3FE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Women's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Packs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Length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Shop · Killer Fits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1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Doritos &amp; Cheetos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536122" y="1847088"/>
            <a:ext cx="5106933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37290" y="1993392"/>
            <a:ext cx="4704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FEATURED COLLECTIONS · PICKED FROM THIS WEEK'S TRAFFIC</a:t>
            </a:r>
            <a:endParaRPr lang="en-US" sz="9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7290" y="2267712"/>
          <a:ext cx="4704597" cy="914400"/>
        </p:xfrm>
        <a:graphic>
          <a:graphicData uri="http://schemas.openxmlformats.org/drawingml/2006/table">
            <a:tbl>
              <a:tblPr/>
              <a:tblGrid>
                <a:gridCol w="1238052"/>
                <a:gridCol w="1061187"/>
                <a:gridCol w="672085"/>
                <a:gridCol w="530594"/>
                <a:gridCol w="530594"/>
                <a:gridCol w="672085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COLLECTION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VISITED (WOW)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LANDED BOUNCE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ATC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CVR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NET SALES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Jaxson Dart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(-#%)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A Breast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(new)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Doritos &amp; Cheetos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(-#%)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BIGFACE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(new)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#-Eleven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(-#%)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737290" y="4279392"/>
            <a:ext cx="4704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ATC and CVR use visited sessions. Net sales = products in the collection (collections overlap). † low confidence.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0" name="Text 25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products by units (web)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VS M/D–M/D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Shopify via Polar (Online Store) + Polar pixel · one row per product and style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11094415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# BY UNITS · ONLINE STORE · HALLOWEEN SHOP PRODUCTS = #% OF WEB UNITS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009748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3466948" y="22677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WOW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3997300" y="2267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500220" y="2267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PDP VIEWS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5067148" y="2267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ATC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478628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CVR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749808" y="2450592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2450592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50976" y="2468880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2468880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24" name="Text 21"/>
          <p:cNvSpPr txBox="1"/>
          <p:nvPr/>
        </p:nvSpPr>
        <p:spPr>
          <a:xfrm>
            <a:off x="1302837" y="2450592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Ghost Face - Dark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Underwear  ·  Halloween Shop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009748" y="245059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466948" y="2450592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997300" y="2450592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00220" y="2450592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67148" y="2450592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78628" y="245059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49808" y="2812694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2812694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950976" y="2830982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2830982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1302837" y="2812694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Solids - Black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Halloween Shop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3009748" y="2812694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3466948" y="2812694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997300" y="281269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500220" y="2812694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067148" y="2812694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478628" y="2812694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9808" y="3174797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3174797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950976" y="3193085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50976" y="3193085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46" name="Text 43"/>
          <p:cNvSpPr txBox="1"/>
          <p:nvPr/>
        </p:nvSpPr>
        <p:spPr>
          <a:xfrm>
            <a:off x="1302837" y="3174797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Solids # Pack - Black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- Cotton  ·  Halloween Shop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3009748" y="3174797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3466948" y="3174797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3997300" y="3174797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4500220" y="3174797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067148" y="3174797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5478628" y="3174797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49808" y="3536899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9808" y="3536899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950976" y="3555187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50976" y="3555187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57" name="Text 54"/>
          <p:cNvSpPr txBox="1"/>
          <p:nvPr/>
        </p:nvSpPr>
        <p:spPr>
          <a:xfrm>
            <a:off x="1302837" y="3536899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Ghost Face - After Hours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Halloween Shop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3009748" y="3536899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3466948" y="3536899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3997300" y="3536899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4500220" y="3536899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067148" y="3536899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5478628" y="3536899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49808" y="3899002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49808" y="3899002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950976" y="3917290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50976" y="3917290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68" name="Text 65"/>
          <p:cNvSpPr txBox="1"/>
          <p:nvPr/>
        </p:nvSpPr>
        <p:spPr>
          <a:xfrm>
            <a:off x="1302837" y="3899002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Friday the #th - Jason Lives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Halloween Shop</a:t>
            </a:r>
            <a:endParaRPr lang="en-US" sz="900" dirty="0"/>
          </a:p>
        </p:txBody>
      </p:sp>
      <p:sp>
        <p:nvSpPr>
          <p:cNvPr id="69" name="Text 66"/>
          <p:cNvSpPr txBox="1"/>
          <p:nvPr/>
        </p:nvSpPr>
        <p:spPr>
          <a:xfrm>
            <a:off x="3009748" y="389900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3466948" y="3899002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-#%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3997300" y="3899002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72" name="Text 69"/>
          <p:cNvSpPr txBox="1"/>
          <p:nvPr/>
        </p:nvSpPr>
        <p:spPr>
          <a:xfrm>
            <a:off x="4500220" y="3899002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5067148" y="3899002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5478628" y="389900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75" name="Text 72"/>
          <p:cNvSpPr txBox="1"/>
          <p:nvPr/>
        </p:nvSpPr>
        <p:spPr>
          <a:xfrm>
            <a:off x="8515807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700" dirty="0"/>
          </a:p>
        </p:txBody>
      </p:sp>
      <p:sp>
        <p:nvSpPr>
          <p:cNvPr id="76" name="Text 73"/>
          <p:cNvSpPr txBox="1"/>
          <p:nvPr/>
        </p:nvSpPr>
        <p:spPr>
          <a:xfrm>
            <a:off x="8973007" y="22677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WOW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9503359" y="2267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</a:t>
            </a:r>
            <a:endParaRPr lang="en-US" sz="700" dirty="0"/>
          </a:p>
        </p:txBody>
      </p:sp>
      <p:sp>
        <p:nvSpPr>
          <p:cNvPr id="78" name="Text 75"/>
          <p:cNvSpPr txBox="1"/>
          <p:nvPr/>
        </p:nvSpPr>
        <p:spPr>
          <a:xfrm>
            <a:off x="10006279" y="2267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PDP VIEWS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10573207" y="2267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ATC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984687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CVR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6255868" y="2450592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255868" y="2450592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6457036" y="2468880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6457036" y="2468880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85" name="Text 82"/>
          <p:cNvSpPr txBox="1"/>
          <p:nvPr/>
        </p:nvSpPr>
        <p:spPr>
          <a:xfrm>
            <a:off x="6808897" y="2450592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Ghost Face - Dark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Halloween Shop</a:t>
            </a:r>
            <a:endParaRPr lang="en-US" sz="900" dirty="0"/>
          </a:p>
        </p:txBody>
      </p:sp>
      <p:sp>
        <p:nvSpPr>
          <p:cNvPr id="86" name="Text 83"/>
          <p:cNvSpPr txBox="1"/>
          <p:nvPr/>
        </p:nvSpPr>
        <p:spPr>
          <a:xfrm>
            <a:off x="8515807" y="245059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8973007" y="2450592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88" name="Text 85"/>
          <p:cNvSpPr txBox="1"/>
          <p:nvPr/>
        </p:nvSpPr>
        <p:spPr>
          <a:xfrm>
            <a:off x="9503359" y="2450592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89" name="Text 86"/>
          <p:cNvSpPr txBox="1"/>
          <p:nvPr/>
        </p:nvSpPr>
        <p:spPr>
          <a:xfrm>
            <a:off x="10006279" y="2450592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10573207" y="2450592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91" name="Text 88"/>
          <p:cNvSpPr txBox="1"/>
          <p:nvPr/>
        </p:nvSpPr>
        <p:spPr>
          <a:xfrm>
            <a:off x="10984687" y="245059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6255868" y="2812694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6255868" y="2812694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800" dirty="0"/>
          </a:p>
        </p:txBody>
      </p:sp>
      <p:sp>
        <p:nvSpPr>
          <p:cNvPr id="94" name="Shape 91"/>
          <p:cNvSpPr/>
          <p:nvPr/>
        </p:nvSpPr>
        <p:spPr>
          <a:xfrm>
            <a:off x="6457036" y="2830982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6457036" y="2830982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96" name="Text 93"/>
          <p:cNvSpPr txBox="1"/>
          <p:nvPr/>
        </p:nvSpPr>
        <p:spPr>
          <a:xfrm>
            <a:off x="6808897" y="2812694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a Breast - I Heart Boobies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Keep A Breast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8515807" y="2812694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98" name="Text 95"/>
          <p:cNvSpPr txBox="1"/>
          <p:nvPr/>
        </p:nvSpPr>
        <p:spPr>
          <a:xfrm>
            <a:off x="8973007" y="2812694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</a:t>
            </a:r>
            <a:endParaRPr lang="en-US" sz="900" dirty="0"/>
          </a:p>
        </p:txBody>
      </p:sp>
      <p:sp>
        <p:nvSpPr>
          <p:cNvPr id="99" name="Text 96"/>
          <p:cNvSpPr txBox="1"/>
          <p:nvPr/>
        </p:nvSpPr>
        <p:spPr>
          <a:xfrm>
            <a:off x="9503359" y="281269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100" name="Text 97"/>
          <p:cNvSpPr txBox="1"/>
          <p:nvPr/>
        </p:nvSpPr>
        <p:spPr>
          <a:xfrm>
            <a:off x="10006279" y="2812694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10573207" y="2812694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02" name="Text 99"/>
          <p:cNvSpPr txBox="1"/>
          <p:nvPr/>
        </p:nvSpPr>
        <p:spPr>
          <a:xfrm>
            <a:off x="10984687" y="2812694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255868" y="3174797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255868" y="3174797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800" dirty="0"/>
          </a:p>
        </p:txBody>
      </p:sp>
      <p:sp>
        <p:nvSpPr>
          <p:cNvPr id="105" name="Shape 102"/>
          <p:cNvSpPr/>
          <p:nvPr/>
        </p:nvSpPr>
        <p:spPr>
          <a:xfrm>
            <a:off x="6457036" y="3193085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57036" y="3193085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107" name="Text 104"/>
          <p:cNvSpPr txBox="1"/>
          <p:nvPr/>
        </p:nvSpPr>
        <p:spPr>
          <a:xfrm>
            <a:off x="6808897" y="3174797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Ghost Face - After Hours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Underwear  ·  Halloween Shop</a:t>
            </a:r>
            <a:endParaRPr lang="en-US" sz="900" dirty="0"/>
          </a:p>
        </p:txBody>
      </p:sp>
      <p:sp>
        <p:nvSpPr>
          <p:cNvPr id="108" name="Text 105"/>
          <p:cNvSpPr txBox="1"/>
          <p:nvPr/>
        </p:nvSpPr>
        <p:spPr>
          <a:xfrm>
            <a:off x="8515807" y="3174797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09" name="Text 106"/>
          <p:cNvSpPr txBox="1"/>
          <p:nvPr/>
        </p:nvSpPr>
        <p:spPr>
          <a:xfrm>
            <a:off x="8973007" y="3174797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110" name="Text 107"/>
          <p:cNvSpPr txBox="1"/>
          <p:nvPr/>
        </p:nvSpPr>
        <p:spPr>
          <a:xfrm>
            <a:off x="9503359" y="3174797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111" name="Text 108"/>
          <p:cNvSpPr txBox="1"/>
          <p:nvPr/>
        </p:nvSpPr>
        <p:spPr>
          <a:xfrm>
            <a:off x="10006279" y="3174797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12" name="Text 109"/>
          <p:cNvSpPr txBox="1"/>
          <p:nvPr/>
        </p:nvSpPr>
        <p:spPr>
          <a:xfrm>
            <a:off x="10573207" y="3174797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13" name="Text 110"/>
          <p:cNvSpPr txBox="1"/>
          <p:nvPr/>
        </p:nvSpPr>
        <p:spPr>
          <a:xfrm>
            <a:off x="10984687" y="3174797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6255868" y="3536899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255868" y="3536899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6457036" y="3555187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6457036" y="3555187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118" name="Text 115"/>
          <p:cNvSpPr txBox="1"/>
          <p:nvPr/>
        </p:nvSpPr>
        <p:spPr>
          <a:xfrm>
            <a:off x="6808897" y="3536899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Half Skelly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Halloween Shop</a:t>
            </a:r>
            <a:endParaRPr lang="en-US" sz="900" dirty="0"/>
          </a:p>
        </p:txBody>
      </p:sp>
      <p:sp>
        <p:nvSpPr>
          <p:cNvPr id="119" name="Text 116"/>
          <p:cNvSpPr txBox="1"/>
          <p:nvPr/>
        </p:nvSpPr>
        <p:spPr>
          <a:xfrm>
            <a:off x="8515807" y="3536899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8973007" y="3536899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+#%</a:t>
            </a:r>
            <a:endParaRPr lang="en-US" sz="900" dirty="0"/>
          </a:p>
        </p:txBody>
      </p:sp>
      <p:sp>
        <p:nvSpPr>
          <p:cNvPr id="121" name="Text 118"/>
          <p:cNvSpPr txBox="1"/>
          <p:nvPr/>
        </p:nvSpPr>
        <p:spPr>
          <a:xfrm>
            <a:off x="9503359" y="3536899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10006279" y="3536899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10573207" y="3536899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24" name="Text 121"/>
          <p:cNvSpPr txBox="1"/>
          <p:nvPr/>
        </p:nvSpPr>
        <p:spPr>
          <a:xfrm>
            <a:off x="10984687" y="3536899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B7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6255868" y="3899002"/>
            <a:ext cx="518602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6255868" y="3899002"/>
            <a:ext cx="2011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6457036" y="3917290"/>
            <a:ext cx="260421" cy="325526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6457036" y="3917290"/>
            <a:ext cx="260421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129" name="Text 126"/>
          <p:cNvSpPr txBox="1"/>
          <p:nvPr/>
        </p:nvSpPr>
        <p:spPr>
          <a:xfrm>
            <a:off x="6808897" y="3899002"/>
            <a:ext cx="16611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a Breast - Haute Hearted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  ·  Keep A Breast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8515807" y="389900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31" name="Text 128"/>
          <p:cNvSpPr txBox="1"/>
          <p:nvPr/>
        </p:nvSpPr>
        <p:spPr>
          <a:xfrm>
            <a:off x="8973007" y="3899002"/>
            <a:ext cx="5303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</a:t>
            </a:r>
            <a:endParaRPr lang="en-US" sz="900" dirty="0"/>
          </a:p>
        </p:txBody>
      </p:sp>
      <p:sp>
        <p:nvSpPr>
          <p:cNvPr id="132" name="Text 129"/>
          <p:cNvSpPr txBox="1"/>
          <p:nvPr/>
        </p:nvSpPr>
        <p:spPr>
          <a:xfrm>
            <a:off x="9503359" y="3899002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$#K</a:t>
            </a:r>
            <a:endParaRPr lang="en-US" sz="900" dirty="0"/>
          </a:p>
        </p:txBody>
      </p:sp>
      <p:sp>
        <p:nvSpPr>
          <p:cNvPr id="133" name="Text 130"/>
          <p:cNvSpPr txBox="1"/>
          <p:nvPr/>
        </p:nvSpPr>
        <p:spPr>
          <a:xfrm>
            <a:off x="10006279" y="3899002"/>
            <a:ext cx="5669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00" dirty="0"/>
          </a:p>
        </p:txBody>
      </p:sp>
      <p:sp>
        <p:nvSpPr>
          <p:cNvPr id="134" name="Text 131"/>
          <p:cNvSpPr txBox="1"/>
          <p:nvPr/>
        </p:nvSpPr>
        <p:spPr>
          <a:xfrm>
            <a:off x="10573207" y="3899002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35" name="Text 132"/>
          <p:cNvSpPr txBox="1"/>
          <p:nvPr/>
        </p:nvSpPr>
        <p:spPr>
          <a:xfrm>
            <a:off x="10984687" y="3899002"/>
            <a:ext cx="457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900" dirty="0"/>
          </a:p>
        </p:txBody>
      </p:sp>
      <p:sp>
        <p:nvSpPr>
          <p:cNvPr id="136" name="Text 133"/>
          <p:cNvSpPr txBox="1"/>
          <p:nvPr/>
        </p:nvSpPr>
        <p:spPr>
          <a:xfrm>
            <a:off x="749808" y="4279392"/>
            <a:ext cx="10692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 / red = at least #× / at most #× the median of the top # products by PDP views (ATC #%, CVR #%). ATC = add-to-cart events ÷ PDP views. CVR = orders ÷ sessions with the product. App orders and Mystery styles excluded.</a:t>
            </a:r>
            <a:endParaRPr lang="en-US" sz="800" dirty="0"/>
          </a:p>
        </p:txBody>
      </p:sp>
      <p:sp>
        <p:nvSpPr>
          <p:cNvPr id="137" name="Shape 134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38" name="Text 135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39" name="Shape 136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43" name="Text 140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144" name="Shape 141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48" name="Text 145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49" name="Shape 146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signals: oddities worth a look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02622" y="411480"/>
            <a:ext cx="1640434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02622" y="411480"/>
            <a:ext cx="1640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OF # FLAGS SHOWN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Rules: low ATC &lt; #% on #+ views; low CVR ≤ #× median on #× median views; riser ≥ #×, faller ≤ #× last week's units · inventory = today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11094415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FLAGS ACROSS THE TOP # PRODUCTS BY PDP VIEWS (WEB)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9808" y="2267712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2359152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2359152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1627632" y="2331720"/>
            <a:ext cx="1207008" cy="15544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627632" y="2331720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VIEWS · LOW CVR</a:t>
            </a:r>
            <a:endParaRPr lang="en-US" sz="650" dirty="0"/>
          </a:p>
        </p:txBody>
      </p:sp>
      <p:sp>
        <p:nvSpPr>
          <p:cNvPr id="19" name="Text 16"/>
          <p:cNvSpPr txBox="1"/>
          <p:nvPr/>
        </p:nvSpPr>
        <p:spPr>
          <a:xfrm>
            <a:off x="1627632" y="2505456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PSD Sinner Black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627632" y="2679192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1627632" y="2816352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(-#%) · $#K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Social #% of views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463976" y="2267712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55416" y="2359152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5416" y="2359152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341800" y="2331720"/>
            <a:ext cx="1207008" cy="1554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341800" y="2331720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VIEWS · LOW ATC</a:t>
            </a:r>
            <a:endParaRPr lang="en-US" sz="650" dirty="0"/>
          </a:p>
        </p:txBody>
      </p:sp>
      <p:sp>
        <p:nvSpPr>
          <p:cNvPr id="27" name="Text 24"/>
          <p:cNvSpPr txBox="1"/>
          <p:nvPr/>
        </p:nvSpPr>
        <p:spPr>
          <a:xfrm>
            <a:off x="4341800" y="2505456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Marvel - Miles Morales Pop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341800" y="2679192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4341800" y="2816352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· # in stock today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other PDP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Direct #% of views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178144" y="2267712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69584" y="2359152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69584" y="2359152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7055968" y="2331720"/>
            <a:ext cx="1207008" cy="1554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055968" y="2331720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VIEWS · LOW ATC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7055968" y="2505456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Benji Heat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055968" y="2679192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Underwear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7055968" y="2816352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· # in stock today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Search #% of views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8892311" y="2267712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83751" y="2359152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83751" y="2359152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9770135" y="2331720"/>
            <a:ext cx="1207008" cy="1554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770135" y="2331720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VIEWS · LOW ATC</a:t>
            </a:r>
            <a:endParaRPr lang="en-US" sz="650" dirty="0"/>
          </a:p>
        </p:txBody>
      </p:sp>
      <p:sp>
        <p:nvSpPr>
          <p:cNvPr id="43" name="Text 40"/>
          <p:cNvSpPr txBox="1"/>
          <p:nvPr/>
        </p:nvSpPr>
        <p:spPr>
          <a:xfrm>
            <a:off x="9770135" y="2505456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Blue Cash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9770135" y="2679192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Underwear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9770135" y="2816352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· # in stock today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Search #% of views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749808" y="3483864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" y="3575304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1248" y="3575304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1627632" y="3547872"/>
            <a:ext cx="1207008" cy="1554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627632" y="3547872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VIEWS · LOW ATC</a:t>
            </a:r>
            <a:endParaRPr lang="en-US" sz="650" dirty="0"/>
          </a:p>
        </p:txBody>
      </p:sp>
      <p:sp>
        <p:nvSpPr>
          <p:cNvPr id="51" name="Text 48"/>
          <p:cNvSpPr txBox="1"/>
          <p:nvPr/>
        </p:nvSpPr>
        <p:spPr>
          <a:xfrm>
            <a:off x="1627632" y="3721608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 Bills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627632" y="3895344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Underwear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1627632" y="4032504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· # in stock today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Search #% of views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3463976" y="3483864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555416" y="3575304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555416" y="3575304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4341800" y="3547872"/>
            <a:ext cx="411480" cy="155448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341800" y="354787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RISER</a:t>
            </a:r>
            <a:endParaRPr lang="en-US" sz="650" dirty="0"/>
          </a:p>
        </p:txBody>
      </p:sp>
      <p:sp>
        <p:nvSpPr>
          <p:cNvPr id="59" name="Text 56"/>
          <p:cNvSpPr txBox="1"/>
          <p:nvPr/>
        </p:nvSpPr>
        <p:spPr>
          <a:xfrm>
            <a:off x="4341800" y="3721608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SpongeBob SquarePants - SpongeBob Fit</a:t>
            </a: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4341800" y="3895344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Boy Short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4341800" y="4032504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(+#%) · ## search term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Social #% of views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178144" y="3483864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269584" y="3575304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269584" y="3575304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65" name="Shape 62"/>
          <p:cNvSpPr/>
          <p:nvPr/>
        </p:nvSpPr>
        <p:spPr>
          <a:xfrm>
            <a:off x="7055968" y="3547872"/>
            <a:ext cx="464515" cy="1554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7055968" y="3547872"/>
            <a:ext cx="46451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FALLER</a:t>
            </a:r>
            <a:endParaRPr lang="en-US" sz="650" dirty="0"/>
          </a:p>
        </p:txBody>
      </p:sp>
      <p:sp>
        <p:nvSpPr>
          <p:cNvPr id="67" name="Text 64"/>
          <p:cNvSpPr txBox="1"/>
          <p:nvPr/>
        </p:nvSpPr>
        <p:spPr>
          <a:xfrm>
            <a:off x="7055968" y="3721608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Blossom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7055968" y="3895344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</a:t>
            </a:r>
            <a:endParaRPr lang="en-US" sz="700" dirty="0"/>
          </a:p>
        </p:txBody>
      </p:sp>
      <p:sp>
        <p:nvSpPr>
          <p:cNvPr id="69" name="Text 66"/>
          <p:cNvSpPr txBox="1"/>
          <p:nvPr/>
        </p:nvSpPr>
        <p:spPr>
          <a:xfrm>
            <a:off x="7055968" y="4032504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(-#%) · ## search term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Social #% of views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8892311" y="3483864"/>
            <a:ext cx="2549576" cy="1051560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983751" y="3575304"/>
            <a:ext cx="694944" cy="868680"/>
          </a:xfrm>
          <a:prstGeom prst="rect">
            <a:avLst/>
          </a:prstGeom>
          <a:solidFill>
            <a:srgbClr val="ECEBE5"/>
          </a:solidFill>
          <a:ln w="6350">
            <a:solidFill>
              <a:srgbClr val="D9D7CF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8983751" y="3575304"/>
            <a:ext cx="69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IMG</a:t>
            </a:r>
            <a:endParaRPr lang="en-US" sz="650" dirty="0"/>
          </a:p>
        </p:txBody>
      </p:sp>
      <p:sp>
        <p:nvSpPr>
          <p:cNvPr id="73" name="Shape 70"/>
          <p:cNvSpPr/>
          <p:nvPr/>
        </p:nvSpPr>
        <p:spPr>
          <a:xfrm>
            <a:off x="9770135" y="3547872"/>
            <a:ext cx="464515" cy="1554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9770135" y="3547872"/>
            <a:ext cx="46451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FALLER</a:t>
            </a:r>
            <a:endParaRPr lang="en-US" sz="650" dirty="0"/>
          </a:p>
        </p:txBody>
      </p:sp>
      <p:sp>
        <p:nvSpPr>
          <p:cNvPr id="75" name="Text 72"/>
          <p:cNvSpPr txBox="1"/>
          <p:nvPr/>
        </p:nvSpPr>
        <p:spPr>
          <a:xfrm>
            <a:off x="9770135" y="3721608"/>
            <a:ext cx="158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Realtree - Edge Blue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770135" y="3895344"/>
            <a:ext cx="158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Length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9770135" y="4032504"/>
            <a:ext cx="1580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views · ATC #% · CVR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units (-#%) · $#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Entry: this PDP #%, Homepage #%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Paid Social #% of views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79" name="Text 76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84" name="Text 81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89" name="Text 86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 performance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LANDED · VISITED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 · landed = first page; visited = any page in the session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543290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LANDED ON THE HOMEPAGE VS VISITED IT AT ANY POINT (WoW)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1437306"/>
                <a:gridCol w="1796633"/>
                <a:gridCol w="1796633"/>
              </a:tblGrid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LANDED HERE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VISITED AT ANY POINT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(-#%)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(-#%)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Bounce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 only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Viewed a product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Add-to-cart rate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Conversion rate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10148" y="1847088"/>
            <a:ext cx="543290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11316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/ AFTER EACH REFRESH (LANDED SESSIONS)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1316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1006114"/>
                <a:gridCol w="1749764"/>
                <a:gridCol w="1181091"/>
                <a:gridCol w="109360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CHANGE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WINDOW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CVR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BOUNCE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 refresh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days each side (Fri–Sun vs Mon–Wed)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→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→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 refresh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days each side (Mon–Wed vs Thu–Sat)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→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→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411316" y="4279392"/>
            <a:ext cx="5030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 days each side; the day-of-week mix differs. Source split for each window is in the run log.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0" name="Text 25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 · where shoppers click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CLARITY · MOBILE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Clarity area export (mobile) · click share = area clicks ÷ all page clicks · Week M/D–M/D/YY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2267712" cy="2834640"/>
          </a:xfrm>
          <a:prstGeom prst="rect">
            <a:avLst/>
          </a:prstGeom>
          <a:solidFill>
            <a:srgbClr val="ECEBE5"/>
          </a:solidFill>
          <a:ln w="12700">
            <a:solidFill>
              <a:srgbClr val="B9B7AE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85800" y="1847088"/>
            <a:ext cx="1993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· 4:5</a:t>
            </a:r>
            <a:endParaRPr lang="en-US" sz="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Clarity click map: homepage (mobile)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90672" y="1847088"/>
            <a:ext cx="8552383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1993392"/>
            <a:ext cx="8150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 OF ALL HOMEPAGE CLICKS · # CLICKS, # PAGE VIEWS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2267712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 / navigation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25857" y="2324405"/>
            <a:ext cx="3798710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116007" y="2267712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2519680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Tab: Women's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25857" y="2576373"/>
            <a:ext cx="221410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16007" y="2519680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2771648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Tab: Youth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25857" y="2828341"/>
            <a:ext cx="177319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116007" y="2771648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3023616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Footer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25857" y="3080309"/>
            <a:ext cx="132031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16007" y="3023616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3275584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Hero (Jaxson Dart in map)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25857" y="3332277"/>
            <a:ext cx="128437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116007" y="3275584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291840" y="3527552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Tab: Men's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25857" y="3584245"/>
            <a:ext cx="110705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16007" y="3527552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291840" y="3779520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Men's Packs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25857" y="3836213"/>
            <a:ext cx="82430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16007" y="3779520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291840" y="4031488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Jaxson Dart tile grid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225857" y="4088181"/>
            <a:ext cx="64458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116007" y="4031488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291840" y="4283456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other areas (#)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225857" y="4340149"/>
            <a:ext cx="180435" cy="138582"/>
          </a:xfrm>
          <a:prstGeom prst="rect">
            <a:avLst/>
          </a:prstGeom>
          <a:solidFill>
            <a:srgbClr val="D9D7C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116007" y="4283456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Onsite search (Searchspring)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MISSING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239098" y="411480"/>
            <a:ext cx="1033272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9098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VS M/D–M/D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 (sessions that viewed /search) · Searchspring dashboard (manual) · Week M/D–M/D/YY · vs M/D–M/D</a:t>
            </a:r>
            <a:endParaRPr lang="en-US" sz="900" dirty="0"/>
          </a:p>
        </p:txBody>
      </p:sp>
      <p:pic>
        <p:nvPicPr>
          <p:cNvPr id="11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37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input: </a:t>
            </a:r>
            <a:pPr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Searchspring: Popular searches with counts for M/D–M/D · Searchspring: Search click-through and conversion by term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048256"/>
            <a:ext cx="2743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B3F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 that searched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249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-#% WoW · #% of sessions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2880360"/>
            <a:ext cx="274320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926080"/>
            <a:ext cx="2743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64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Searcher conversion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602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+# pts WoW · non-searchers #%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758184"/>
            <a:ext cx="2743200" cy="0"/>
          </a:xfrm>
          <a:prstGeom prst="line">
            <a:avLst/>
          </a:prstGeom>
          <a:noFill/>
          <a:ln w="6350">
            <a:solidFill>
              <a:srgbClr val="D9D7C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03904"/>
            <a:ext cx="2743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#K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242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Zero-result searches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a day (Searchspring)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11880" y="2048256"/>
            <a:ext cx="8031175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13048" y="2194560"/>
            <a:ext cx="7628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SEARCHES · MOST REFINED (RANK) · NO RESULTS (SEARCHES)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3048" y="2468880"/>
          <a:ext cx="7628839" cy="914400"/>
        </p:xfrm>
        <a:graphic>
          <a:graphicData uri="http://schemas.openxmlformats.org/drawingml/2006/table">
            <a:tbl>
              <a:tblPr/>
              <a:tblGrid>
                <a:gridCol w="401518"/>
                <a:gridCol w="2294388"/>
                <a:gridCol w="2294388"/>
                <a:gridCol w="1950230"/>
                <a:gridCol w="688316"/>
              </a:tblGrid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#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TOP SEARCHES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MOST REFINED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 RESULTS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spongebob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hooters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spongebob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mystery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camo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underwear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pack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spiderman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sports bra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hooter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underwear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camo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blow pop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money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cotton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underwear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liquid death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cotton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money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pack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simpsons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mystery box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3813048" y="4279392"/>
            <a:ext cx="7628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Popular and refinement panels cover # days that include M/D (#K unique searches = #K week of M/D + #K week of M/D), not M/D–M/D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1" name="Text 27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1" name="Text 37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Current campaign: Halloween Shop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page /pages/halloween-shop, category pages and this week's sends.</a:t>
            </a:r>
            <a:endParaRPr lang="en-US" sz="1500" dirty="0"/>
          </a:p>
        </p:txBody>
      </p:sp>
      <p:pic>
        <p:nvPicPr>
          <p:cNvPr id="6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 Shop · landing page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MISSING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83726" y="411480"/>
            <a:ext cx="1488643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83726" y="41148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LANDED · VISITED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pixel; YoY from GA4 on both sides (property on America/Juneau time) · Week M/D–M/D/YY · vs M/D–M/D; YoY M/D–M/D</a:t>
            </a:r>
            <a:endParaRPr lang="en-US" sz="900" dirty="0"/>
          </a:p>
        </p:txBody>
      </p:sp>
      <p:pic>
        <p:nvPicPr>
          <p:cNvPr id="11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37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input: </a:t>
            </a:r>
            <a:pPr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date and last year's equivalent campaign (launch-to-date view)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048256"/>
            <a:ext cx="543290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194560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LANDING-SESSION FUNNEL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2468880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Landed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350008" y="2523744"/>
            <a:ext cx="1875892" cy="2450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" y="2896819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Viewed a product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350008" y="2951683"/>
            <a:ext cx="707780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63060" y="2896819"/>
            <a:ext cx="141732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prior step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3324758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Added to cart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350008" y="3379622"/>
            <a:ext cx="461178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363060" y="3324758"/>
            <a:ext cx="141732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prior step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3752698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Started checkout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350008" y="3807562"/>
            <a:ext cx="265159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363060" y="3752698"/>
            <a:ext cx="141732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prior step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4180637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Ordered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50008" y="4235501"/>
            <a:ext cx="196647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363060" y="4180637"/>
            <a:ext cx="141732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prior step †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0148" y="2048256"/>
            <a:ext cx="543290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11316" y="2194560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LANDED VS VISITED (WoW)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1316" y="2468880"/>
          <a:ext cx="5030572" cy="914400"/>
        </p:xfrm>
        <a:graphic>
          <a:graphicData uri="http://schemas.openxmlformats.org/drawingml/2006/table">
            <a:tbl>
              <a:tblPr/>
              <a:tblGrid>
                <a:gridCol w="1423747"/>
                <a:gridCol w="1803412"/>
                <a:gridCol w="1803412"/>
              </a:tblGrid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LANDED HERE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VISITED AT ANY POINT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(+#%)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 (+#%)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Bounce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 only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Add-to-cart rate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(# pts)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Conversion rate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 †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 (+# pts)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YoY landed (GA4)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 vs # (-#%)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A7A7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 structure changed</a:t>
                      </a:r>
                      <a:endParaRPr lang="en-US" sz="8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0"/>
          <p:cNvSpPr txBox="1"/>
          <p:nvPr/>
        </p:nvSpPr>
        <p:spPr>
          <a:xfrm>
            <a:off x="6411316" y="4279392"/>
            <a:ext cx="5030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year: separate category collections; this year: one landing page with category tag pages.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1" name="Text 37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 Shop · category engagement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9783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VS M/D–M/D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 · category filters are URL tag pages (/collections/halloween/&lt;tag&gt;) · Week M/D–M/D/YY · vs M/D–M/D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60350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SESSIONS ON EACH CATEGORY PAGE VS SHOP-ALL (WoW)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26771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 all (Halloween Shop)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77581" y="2279599"/>
            <a:ext cx="888026" cy="6583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2777581" y="2372868"/>
            <a:ext cx="843003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56632" y="22677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(+#%)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45059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Killer Fits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77581" y="2462479"/>
            <a:ext cx="1708656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77581" y="2555748"/>
            <a:ext cx="2187611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56632" y="24505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263347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Spooky Staples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77581" y="2645359"/>
            <a:ext cx="783618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4" name="Shape 21"/>
          <p:cNvSpPr/>
          <p:nvPr/>
        </p:nvSpPr>
        <p:spPr>
          <a:xfrm>
            <a:off x="2777581" y="2738628"/>
            <a:ext cx="231467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56632" y="26334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(+#%)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281635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Men's (#)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77581" y="2828239"/>
            <a:ext cx="534473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8" name="Shape 25"/>
          <p:cNvSpPr/>
          <p:nvPr/>
        </p:nvSpPr>
        <p:spPr>
          <a:xfrm>
            <a:off x="2777581" y="2921508"/>
            <a:ext cx="678104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56632" y="28163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299923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Women's (#)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77581" y="3011119"/>
            <a:ext cx="385318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77581" y="3104388"/>
            <a:ext cx="691362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056632" y="29992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8211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Costume Ready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77581" y="3193999"/>
            <a:ext cx="355487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6" name="Shape 33"/>
          <p:cNvSpPr/>
          <p:nvPr/>
        </p:nvSpPr>
        <p:spPr>
          <a:xfrm>
            <a:off x="2777581" y="3287268"/>
            <a:ext cx="264612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056632" y="31821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(+#%)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49808" y="336499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Youth (#)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77581" y="3376879"/>
            <a:ext cx="301073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77581" y="3470148"/>
            <a:ext cx="411006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056632" y="3364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749808" y="354787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Sugar Rush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777581" y="3559759"/>
            <a:ext cx="280080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4" name="Shape 41"/>
          <p:cNvSpPr/>
          <p:nvPr/>
        </p:nvSpPr>
        <p:spPr>
          <a:xfrm>
            <a:off x="2777581" y="3653028"/>
            <a:ext cx="214065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056632" y="35478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(+#%)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749808" y="373075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Cult Classics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77581" y="3742639"/>
            <a:ext cx="235610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8" name="Shape 45"/>
          <p:cNvSpPr/>
          <p:nvPr/>
        </p:nvSpPr>
        <p:spPr>
          <a:xfrm>
            <a:off x="2777581" y="3835908"/>
            <a:ext cx="253012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056632" y="37307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749808" y="391363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Wanted: Dead or Alive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77581" y="3925519"/>
            <a:ext cx="227324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77581" y="4018788"/>
            <a:ext cx="209370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056632" y="39136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(+#%)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749808" y="4096512"/>
            <a:ext cx="1936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Packs (tag view)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777581" y="4108399"/>
            <a:ext cx="27432" cy="65837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6" name="Shape 53"/>
          <p:cNvSpPr/>
          <p:nvPr/>
        </p:nvSpPr>
        <p:spPr>
          <a:xfrm>
            <a:off x="2777581" y="4201668"/>
            <a:ext cx="346648" cy="65837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5056632" y="4096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 (-#%)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2777581" y="4398264"/>
            <a:ext cx="182880" cy="10058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3015325" y="43342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week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012021" y="4398264"/>
            <a:ext cx="182880" cy="10058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249765" y="43342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week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812280" y="1847088"/>
            <a:ext cx="4830775" cy="1378915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013448" y="1993392"/>
            <a:ext cx="4428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/pages/halloween-shop SESSIONS BY SOURCE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13448" y="2267712"/>
          <a:ext cx="4428439" cy="914400"/>
        </p:xfrm>
        <a:graphic>
          <a:graphicData uri="http://schemas.openxmlformats.org/drawingml/2006/table">
            <a:tbl>
              <a:tblPr/>
              <a:tblGrid>
                <a:gridCol w="2062561"/>
                <a:gridCol w="1213271"/>
                <a:gridCol w="1152607"/>
              </a:tblGrid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SOURCE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SESSIONS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WOW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Paid Search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Direct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5" name="Shape 61"/>
          <p:cNvSpPr/>
          <p:nvPr/>
        </p:nvSpPr>
        <p:spPr>
          <a:xfrm>
            <a:off x="6812280" y="3408883"/>
            <a:ext cx="4830775" cy="1272845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7013448" y="3555187"/>
            <a:ext cx="4428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HALLOWEEN SMS SENDS THIS WEEK</a:t>
            </a:r>
            <a:endParaRPr lang="en-US" sz="9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13448" y="3829507"/>
          <a:ext cx="4428439" cy="914400"/>
        </p:xfrm>
        <a:graphic>
          <a:graphicData uri="http://schemas.openxmlformats.org/drawingml/2006/table">
            <a:tbl>
              <a:tblPr/>
              <a:tblGrid>
                <a:gridCol w="1031280"/>
                <a:gridCol w="2426542"/>
                <a:gridCol w="970617"/>
              </a:tblGrid>
              <a:tr h="1764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SEND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SESSIONS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4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Tue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Ghost Face – Body Count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4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Sat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Shop – Half Skelly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4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Sun 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Ghost Face – Multi-packs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Shape 63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69" name="Text 64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74" name="Text 69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75" name="Shape 70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79" name="Text 74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 Shop · where shoppers click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4412" y="411480"/>
            <a:ext cx="14886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CLARITY · MOBILE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Clarity area export (mobile) · click share = area clicks ÷ all page clicks · Week M/D–M/D/YY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2267712" cy="2834640"/>
          </a:xfrm>
          <a:prstGeom prst="rect">
            <a:avLst/>
          </a:prstGeom>
          <a:solidFill>
            <a:srgbClr val="ECEBE5"/>
          </a:solidFill>
          <a:ln w="12700">
            <a:solidFill>
              <a:srgbClr val="B9B7AE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85800" y="1847088"/>
            <a:ext cx="1993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· 4:5</a:t>
            </a:r>
            <a:endParaRPr lang="en-US" sz="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Clarity click map: Halloween Shop page (mobile)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90672" y="1847088"/>
            <a:ext cx="8552383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1993392"/>
            <a:ext cx="8150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 OF ALL PAGE CLICKS · # CLICKS, # PAGE VIEWS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2267712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 / navigation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25857" y="2324405"/>
            <a:ext cx="3798710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116007" y="2267712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2519680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Killer Fits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25857" y="2576373"/>
            <a:ext cx="2961494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16007" y="2519680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2771648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Costume Ready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25857" y="2828341"/>
            <a:ext cx="1793141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116007" y="2771648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3023616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Spooky Staples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25857" y="3080309"/>
            <a:ext cx="1574465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16007" y="3023616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3275584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 Men's banner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25857" y="3332277"/>
            <a:ext cx="1062139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116007" y="3275584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291840" y="3527552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Sugar Rush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25857" y="3584245"/>
            <a:ext cx="1024652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16007" y="3527552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291840" y="3779520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Wanted: Dead or Alive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25857" y="3836213"/>
            <a:ext cx="918438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16007" y="3779520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291840" y="4031488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 Women's banner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225857" y="4088181"/>
            <a:ext cx="805976" cy="138582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116007" y="4031488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291840" y="4283456"/>
            <a:ext cx="2842577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other areas (#)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225857" y="4340149"/>
            <a:ext cx="2111783" cy="138582"/>
          </a:xfrm>
          <a:prstGeom prst="rect">
            <a:avLst/>
          </a:prstGeom>
          <a:solidFill>
            <a:srgbClr val="D9D7C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116007" y="4283456"/>
            <a:ext cx="132588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 ·  #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drop · [Drop name]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457993" y="411480"/>
            <a:ext cx="1185062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57993" y="411480"/>
            <a:ext cx="11850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LAUNCHED M/D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Shopify via Polar (drop collection) + Polar pixel · one row per product and style · Week M/D–M/D/YY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6302173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1993392"/>
            <a:ext cx="58998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LAUNCH TO DATE VS PAST DROPS AT THE SAME DAY COUNT (# DAYS)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67712"/>
          <a:ext cx="5899837" cy="914400"/>
        </p:xfrm>
        <a:graphic>
          <a:graphicData uri="http://schemas.openxmlformats.org/drawingml/2006/table">
            <a:tbl>
              <a:tblPr/>
              <a:tblGrid>
                <a:gridCol w="1455804"/>
                <a:gridCol w="689591"/>
                <a:gridCol w="459728"/>
                <a:gridCol w="612970"/>
                <a:gridCol w="727902"/>
                <a:gridCol w="727902"/>
                <a:gridCol w="651281"/>
                <a:gridCol w="57465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DROP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LAUNCHED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UNITS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NET SALES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SESSIONS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ATC RATE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CVR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[This drop]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[Past drop 1]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[Past drop 2]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$#K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7079413" y="1847088"/>
            <a:ext cx="4563642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80581" y="1993392"/>
            <a:ext cx="4161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PRODUCTS IN THE DROP BY UNITS</a:t>
            </a:r>
            <a:endParaRPr lang="en-US" sz="9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0581" y="2267712"/>
          <a:ext cx="4161306" cy="914400"/>
        </p:xfrm>
        <a:graphic>
          <a:graphicData uri="http://schemas.openxmlformats.org/drawingml/2006/table">
            <a:tbl>
              <a:tblPr/>
              <a:tblGrid>
                <a:gridCol w="1760553"/>
                <a:gridCol w="1280402"/>
                <a:gridCol w="560176"/>
                <a:gridCol w="56017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PRODUCT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STYLE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UNITS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CVR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[Product]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[Style]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[Product]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[Style]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[Product]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[Style]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[Product]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[Style]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[Product]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[Style]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9" name="Text 14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4" name="Text 19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29" name="Text 24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Post-purchase and tests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AfterSell offers after checkout.</a:t>
            </a:r>
            <a:endParaRPr lang="en-US" sz="1500" dirty="0"/>
          </a:p>
        </p:txBody>
      </p:sp>
      <p:pic>
        <p:nvPicPr>
          <p:cNvPr id="6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Post-purchase offers (AfterSell)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82098" y="411480"/>
            <a:ext cx="1260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MISSING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11412" y="411480"/>
            <a:ext cx="1260958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11412" y="411480"/>
            <a:ext cx="1260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BROWSER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AfterSell order browser + export (manual) · Shopify orders by sales channel via Polar · Week M/D–M/D/YY · accepted +#% WoW</a:t>
            </a:r>
            <a:endParaRPr lang="en-US" sz="900" dirty="0"/>
          </a:p>
        </p:txBody>
      </p:sp>
      <p:pic>
        <p:nvPicPr>
          <p:cNvPr id="11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37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input: </a:t>
            </a:r>
            <a:pPr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AfterSell: Active tests (sample, lift, confidence, decision date) · AfterSell: September monthly export (first deck of October)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048256"/>
            <a:ext cx="6519489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194560"/>
            <a:ext cx="6117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ORDERS → ONLINE STORE → ELIGIBLE → SHOWN → ACCEPTED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2468880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orders (AfterSell)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350008" y="2523744"/>
            <a:ext cx="1910913" cy="2450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98081" y="2468880"/>
            <a:ext cx="246888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Shopify, all channels: #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2896819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 Store orders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350008" y="2951683"/>
            <a:ext cx="1384249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398081" y="2896819"/>
            <a:ext cx="246888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Excludes TikTok Shop # · Tapcart app # · Shop App # · Other channels #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3324758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Eligible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350008" y="3379622"/>
            <a:ext cx="1153248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398081" y="3324758"/>
            <a:ext cx="246888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Online Store orders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3752698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Shown an offer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350008" y="3807562"/>
            <a:ext cx="1133270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98081" y="3752698"/>
            <a:ext cx="246888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eligible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49808" y="4180637"/>
            <a:ext cx="16002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Accepted</a:t>
            </a:r>
            <a:endParaRPr lang="en-US" sz="9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350008" y="4235501"/>
            <a:ext cx="505856" cy="245059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398081" y="4180637"/>
            <a:ext cx="246888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#% of shown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296729" y="2048256"/>
            <a:ext cx="4346326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7897" y="2194560"/>
            <a:ext cx="3943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OTHER REASONS ORDERS WERE INELIGIBLE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497897" y="2468880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Unsupported gateway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917734" y="2532659"/>
            <a:ext cx="1106834" cy="15590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16007" y="246888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497897" y="2752344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Unsupported wallet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917734" y="2816123"/>
            <a:ext cx="834142" cy="15590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116007" y="2752344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497897" y="3035808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Installments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917734" y="3099587"/>
            <a:ext cx="290871" cy="15590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116007" y="3035808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497897" y="3319272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Skipped by Shopify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917734" y="3383051"/>
            <a:ext cx="224073" cy="15590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116007" y="3319272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497897" y="3602736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Below minimum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917734" y="3666515"/>
            <a:ext cx="90897" cy="155905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0116007" y="3602736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7497897" y="3886200"/>
            <a:ext cx="1328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(has duties, multi-currency)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917734" y="3949979"/>
            <a:ext cx="54961" cy="155905"/>
          </a:xfrm>
          <a:prstGeom prst="rect">
            <a:avLst/>
          </a:prstGeom>
          <a:solidFill>
            <a:srgbClr val="D9D7C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0116007" y="388620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497897" y="4187952"/>
            <a:ext cx="3943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order can have several reasons. AfterSell's 'unsupported channel' (#) matches TikTok Shop and is covered by the Online Store step.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59" name="Text 56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64" name="Text 61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Looking ahead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Sends and site changes over the next two weeks.</a:t>
            </a:r>
            <a:endParaRPr lang="en-US" sz="1500" dirty="0"/>
          </a:p>
        </p:txBody>
      </p:sp>
      <p:pic>
        <p:nvPicPr>
          <p:cNvPr id="6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Looking ahead · next two weeks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820095" y="411480"/>
            <a:ext cx="822960" cy="292608"/>
          </a:xfrm>
          <a:prstGeom prst="rect">
            <a:avLst/>
          </a:prstGeom>
          <a:solidFill>
            <a:srgbClr val="7A7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20095" y="411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M/D–M/D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Asana marketing calendar (screenshot) · Klaviyo campaigns · Week M/D–M/D/YY · next # days</a:t>
            </a:r>
            <a:endParaRPr lang="en-US" sz="900" dirty="0"/>
          </a:p>
        </p:txBody>
      </p:sp>
      <p:pic>
        <p:nvPicPr>
          <p:cNvPr id="9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[Headline: the one takeaway, with its number]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8F7F3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 M/D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46619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38059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TUE M/D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38059" y="215798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238059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667827" y="215798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667827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097595" y="215798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097595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22" name="Text 19"/>
          <p:cNvSpPr txBox="1"/>
          <p:nvPr/>
        </p:nvSpPr>
        <p:spPr>
          <a:xfrm>
            <a:off x="2238059" y="231343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Spooky Staples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44599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8F7F3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36039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WED M/D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42578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34018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 M/D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34018" y="215798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34018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5863786" y="215798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863786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6293554" y="215798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93554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33" name="Text 30"/>
          <p:cNvSpPr txBox="1"/>
          <p:nvPr/>
        </p:nvSpPr>
        <p:spPr>
          <a:xfrm>
            <a:off x="5434018" y="231343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Costume Ready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40557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31997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FRI M/D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031997" y="215798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031997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7461765" y="215798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461765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891533" y="215798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891533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42" name="Text 39"/>
          <p:cNvSpPr txBox="1"/>
          <p:nvPr/>
        </p:nvSpPr>
        <p:spPr>
          <a:xfrm>
            <a:off x="7031997" y="231343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DC (Email #)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538537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629977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M/D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629977" y="215798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629977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9059745" y="215798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059745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9489513" y="215798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489513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51" name="Text 48"/>
          <p:cNvSpPr txBox="1"/>
          <p:nvPr/>
        </p:nvSpPr>
        <p:spPr>
          <a:xfrm>
            <a:off x="8629977" y="231343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Jason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10136516" y="184708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227956" y="192024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SUN M/D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227956" y="215798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227956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10657724" y="215798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0657724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11087492" y="215798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1087492" y="21579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60" name="Text 57"/>
          <p:cNvSpPr txBox="1"/>
          <p:nvPr/>
        </p:nvSpPr>
        <p:spPr>
          <a:xfrm>
            <a:off x="10227956" y="231343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GhostFace (After Hours)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48640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8F7F3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40080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 M/D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2146619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238059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TUE M/D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2238059" y="3621024"/>
            <a:ext cx="393192" cy="146304"/>
          </a:xfrm>
          <a:prstGeom prst="rect">
            <a:avLst/>
          </a:prstGeom>
          <a:solidFill>
            <a:srgbClr val="D4FF3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2238059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</a:t>
            </a:r>
            <a:endParaRPr lang="en-US" sz="650" dirty="0"/>
          </a:p>
        </p:txBody>
      </p:sp>
      <p:sp>
        <p:nvSpPr>
          <p:cNvPr id="67" name="Text 64"/>
          <p:cNvSpPr txBox="1"/>
          <p:nvPr/>
        </p:nvSpPr>
        <p:spPr>
          <a:xfrm>
            <a:off x="2238059" y="37764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 hero: NBA Tip Off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38059" y="407822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2238059" y="40782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2667827" y="407822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2667827" y="40782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3097595" y="407822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3097595" y="40782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74" name="Text 71"/>
          <p:cNvSpPr txBox="1"/>
          <p:nvPr/>
        </p:nvSpPr>
        <p:spPr>
          <a:xfrm>
            <a:off x="2238059" y="42336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NBA Tip Off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744599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8F7F3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836039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WED M/D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5342578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434018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 M/D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5434018" y="362102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434018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81" name="Shape 78"/>
          <p:cNvSpPr/>
          <p:nvPr/>
        </p:nvSpPr>
        <p:spPr>
          <a:xfrm>
            <a:off x="5863786" y="362102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5863786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83" name="Text 80"/>
          <p:cNvSpPr txBox="1"/>
          <p:nvPr/>
        </p:nvSpPr>
        <p:spPr>
          <a:xfrm>
            <a:off x="5434018" y="37764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Cult Classics (Fandom)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6940557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031997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FRI M/D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7031997" y="362102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7031997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88" name="Shape 85"/>
          <p:cNvSpPr/>
          <p:nvPr/>
        </p:nvSpPr>
        <p:spPr>
          <a:xfrm>
            <a:off x="7461765" y="362102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7461765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90" name="Text 87"/>
          <p:cNvSpPr txBox="1"/>
          <p:nvPr/>
        </p:nvSpPr>
        <p:spPr>
          <a:xfrm>
            <a:off x="7031997" y="37764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Western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8538537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629977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M/D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8629977" y="362102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8629977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95" name="Shape 92"/>
          <p:cNvSpPr/>
          <p:nvPr/>
        </p:nvSpPr>
        <p:spPr>
          <a:xfrm>
            <a:off x="9059745" y="362102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9059745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97" name="Shape 94"/>
          <p:cNvSpPr/>
          <p:nvPr/>
        </p:nvSpPr>
        <p:spPr>
          <a:xfrm>
            <a:off x="9489513" y="362102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9489513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99" name="Text 96"/>
          <p:cNvSpPr txBox="1"/>
          <p:nvPr/>
        </p:nvSpPr>
        <p:spPr>
          <a:xfrm>
            <a:off x="8629977" y="37764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Halloween: IT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10136516" y="3310128"/>
            <a:ext cx="150653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10227956" y="3383280"/>
            <a:ext cx="1323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SUN M/D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10227956" y="3621024"/>
            <a:ext cx="393192" cy="146304"/>
          </a:xfrm>
          <a:prstGeom prst="rect">
            <a:avLst/>
          </a:prstGeom>
          <a:solidFill>
            <a:srgbClr val="2B3FE0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10227956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10657724" y="3621024"/>
            <a:ext cx="393192" cy="1463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5" name="Text 102"/>
          <p:cNvSpPr txBox="1"/>
          <p:nvPr/>
        </p:nvSpPr>
        <p:spPr>
          <a:xfrm>
            <a:off x="10657724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11087492" y="3621024"/>
            <a:ext cx="393192" cy="146304"/>
          </a:xfrm>
          <a:prstGeom prst="rect">
            <a:avLst/>
          </a:prstGeom>
          <a:solidFill>
            <a:srgbClr val="CDD2F7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11087492" y="362102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650" dirty="0"/>
          </a:p>
        </p:txBody>
      </p:sp>
      <p:sp>
        <p:nvSpPr>
          <p:cNvPr id="108" name="Text 105"/>
          <p:cNvSpPr txBox="1"/>
          <p:nvPr/>
        </p:nvSpPr>
        <p:spPr>
          <a:xfrm>
            <a:off x="10227956" y="3776472"/>
            <a:ext cx="132365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NBA Tip Off (Email #)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548640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10" name="Text 107"/>
          <p:cNvSpPr txBox="1"/>
          <p:nvPr/>
        </p:nvSpPr>
        <p:spPr>
          <a:xfrm>
            <a:off x="749808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11" name="Shape 108"/>
          <p:cNvSpPr/>
          <p:nvPr/>
        </p:nvSpPr>
        <p:spPr>
          <a:xfrm>
            <a:off x="749808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49808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49808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322978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15" name="Text 112"/>
          <p:cNvSpPr txBox="1"/>
          <p:nvPr/>
        </p:nvSpPr>
        <p:spPr>
          <a:xfrm>
            <a:off x="4524146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4524146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24146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24146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097317" y="4818888"/>
            <a:ext cx="3545738" cy="1271016"/>
          </a:xfrm>
          <a:prstGeom prst="roundRect">
            <a:avLst>
              <a:gd name="adj" fmla="val 4317"/>
            </a:avLst>
          </a:prstGeom>
          <a:solidFill>
            <a:srgbClr val="FBFCF4"/>
          </a:solidFill>
          <a:ln w="12700">
            <a:solidFill>
              <a:srgbClr val="A9B97A"/>
            </a:solidFill>
            <a:prstDash val="dash"/>
          </a:ln>
        </p:spPr>
      </p:sp>
      <p:sp>
        <p:nvSpPr>
          <p:cNvPr id="120" name="Text 117"/>
          <p:cNvSpPr txBox="1"/>
          <p:nvPr/>
        </p:nvSpPr>
        <p:spPr>
          <a:xfrm>
            <a:off x="8298485" y="4965192"/>
            <a:ext cx="31434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8298485" y="542239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298485" y="569671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8298485" y="5971032"/>
            <a:ext cx="3143402" cy="0"/>
          </a:xfrm>
          <a:prstGeom prst="line">
            <a:avLst/>
          </a:prstGeom>
          <a:noFill/>
          <a:ln w="9525">
            <a:solidFill>
              <a:srgbClr val="D5DDB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Appendix</a:t>
            </a:r>
            <a:endParaRPr lang="en-US" sz="3800" dirty="0"/>
          </a:p>
        </p:txBody>
      </p:sp>
      <p:pic>
        <p:nvPicPr>
          <p:cNvPr id="4" name="Image 0" descr="/home/claude/merch-weekly/assets/ps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APPENDIX · RUN NOTES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· Week M/D–M/D/YY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Run notes: missing inputs, contradictions and assumptions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11094415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011680"/>
          <a:ext cx="10692079" cy="914400"/>
        </p:xfrm>
        <a:graphic>
          <a:graphicData uri="http://schemas.openxmlformats.org/drawingml/2006/table">
            <a:tbl>
              <a:tblPr/>
              <a:tblGrid>
                <a:gridCol w="1449773"/>
                <a:gridCol w="9242306"/>
              </a:tblGrid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TYPE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What's live: Campaign landing page (Halloween Shop) changes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What's live: Top PLP changes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Campaign launch date and last year's equivalent (launch-to-date view)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AfterSell: Active tests (sample, lift, confidence, decision date)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AfterSell: September monthly export (first deck of October)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Searchspring: Popular searches with counts for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input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Searchspring: Search click-through and conversion by term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Contradiction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Homepage heat map shows Jaxson Dart in the top banner; the what's-live input lists Halloween Shop (Ghostface) as the hero for both refreshes.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Contradiction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AfterSell order browser revenue ($#) differs from the analytics export ($#) for the same dates. Acceptance rate uses accepted offers from the export and offers shown from the order browser.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Contradiction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Searchspring shows #K unique searches for the week of M/D, while the pixel shows # sessions that viewed /search. The two count different things (unique queries vs sessions) and aren't compared.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AfterSell order browser screenshot covers M/D–M/D (the date picker reads 'Custom').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Featured collections were inferred from traffic: top # non-core collections by visited sessions.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Unlabeled Clarity areas were named from the click-map images, top to bottom.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Bot sessions are included in every pixel metric, matching the Daily Flash.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Eligible ÷ Online Store orders assumes every eligible order came through the Online Store. AfterSell's 'unsupported channel' count (#) matches TikTok Shop (#), so Tapcart and Shop App ineligibility isn't confirmed by the order browser.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Looking ahead comes from the Asana calendar screenshot; the M/D SMS and push are read as NBA Tip Off.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products exclude Exclusive Mystery Style (# web units), since the shopper doesn't choose the style.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Searchspring zero-result terms table is read as M/D–M/D, the same range as the zero-result chart; its date picker isn't in the screenshot.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Assumption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Inventory on the product signals slide is today's Shopify snapshot (M/D), not week-end stock.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APPENDIX · TRAFFIC DETAIL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 pixel; GA4 via Polar · Week M/D–M/D/YY · YoY M/D–M/D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Sessions by channel this week, and the GA4 year-over-year split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5432908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PIXEL SESSIONS BY PSD CHANNEL GROUP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1644610"/>
                <a:gridCol w="1064159"/>
                <a:gridCol w="773934"/>
                <a:gridCol w="773934"/>
                <a:gridCol w="773934"/>
              </a:tblGrid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CHANNEL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SESSIONS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SHARE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ATC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CVR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Paid Social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Direct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Paid Search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Organic Search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SMS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Email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Unassigned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Affiliates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Display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Organic Social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Referral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†</a:t>
                      </a:r>
                      <a:endParaRPr lang="en-US" sz="9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10148" y="1847088"/>
            <a:ext cx="5432908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11316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GA4: THIS WEEK VS SAME WEEKDAYS LAST YEAR</a:t>
            </a:r>
            <a:endParaRPr lang="en-US" sz="9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1316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1387744"/>
                <a:gridCol w="823973"/>
                <a:gridCol w="823973"/>
                <a:gridCol w="693872"/>
                <a:gridCol w="130101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SCOPE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TY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LY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PURCHASE RATE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traffic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vs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Paid Social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vs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Excl. Paid Social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 vs #%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APPENDIX · CLARITY DETAIL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Clarity area exports (manual) · Week M/D–M/D/YY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Every Clarity area, homepage and campaign page (mobile)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5432908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HOMEPAGE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3156437"/>
                <a:gridCol w="986387"/>
                <a:gridCol w="887748"/>
              </a:tblGrid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AREA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CLICKS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SHARE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Promo bar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Header / navigation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Reviews strip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Hero (Jaxson Dart in map)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Jaxson Dart tile grid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banner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Halloween shop carousel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Tab: Men's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Tab: Women's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Tab: Youth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Packs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New Arrivals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Bestsellers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Underwear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Unlabeled area (not visible in map)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 club sign-up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Footer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10148" y="1847088"/>
            <a:ext cx="5432908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11316" y="1993392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B3F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HALLOWEEN SHOP</a:t>
            </a:r>
            <a:endParaRPr lang="en-US" sz="9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1316" y="2267712"/>
          <a:ext cx="5030572" cy="914400"/>
        </p:xfrm>
        <a:graphic>
          <a:graphicData uri="http://schemas.openxmlformats.org/drawingml/2006/table">
            <a:tbl>
              <a:tblPr/>
              <a:tblGrid>
                <a:gridCol w="3156437"/>
                <a:gridCol w="986387"/>
                <a:gridCol w="887748"/>
              </a:tblGrid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AREA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CLICKS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SHARE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Promo bar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Header / navigation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Hero (Midnight Showing)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Killer Fits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Costume Ready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Spooky Staples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Sugar Rush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Cult Classics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Wanted: Dead or Alive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Blank block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 Men's banner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Men's product carousel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 Women's banner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Women's product carousel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 Youth Styles banner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Youth product carousel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 club sign-up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Footer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#%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APPENDIX · RUN LOG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Polar rows use view Business Channel – PSD Web (#-mpfv5#vy), all sessions · Week M/D–M/D/YY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Run log # of #: source and filters behind every number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11094415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011680"/>
          <a:ext cx="10692079" cy="914400"/>
        </p:xfrm>
        <a:graphic>
          <a:graphicData uri="http://schemas.openxmlformats.org/drawingml/2006/table">
            <a:tbl>
              <a:tblPr/>
              <a:tblGrid>
                <a:gridCol w="1562688"/>
                <a:gridCol w="2138416"/>
                <a:gridCol w="2138416"/>
                <a:gridCol w="2960883"/>
                <a:gridCol w="1891676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SLIDE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NUMBER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SOURCE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FILTERS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 / summary / site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view; all sessions (bots included)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 / summary / site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Conversion rate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view; all sessions (bots included)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 / summary / site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Add-to-cart rate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view; all sessions (bots included)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 / summary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sales, orders, AOV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Shopify via Polar (custom_6# etc.)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Summary / site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YoY sessions and CVR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GA4 via Polar (ga_main)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Summary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orders, net sales, AOV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Shopify via Polar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view; custom_5# = Mobile App (Tapcart)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changed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SMS sessions per send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 (custom_5# = SMS, utm_campaign)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names dated in the week; all segments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changed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Email sends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Klaviyo get_campaigns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Sent, send time in week (PT)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PLPs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Visited sessions by PLP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 (page_path)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page_path CONTAINS /collections/, NOTCONTAINS /products/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PLPs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Landed sessions and bounce by PLP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 (landing_page_path)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landing_page_path IS &lt;path&gt;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Collections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Jaxson Dart visited funnel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page_paths_in_session exact match /collections/jaxson-dart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Collections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Jaxson Dart landed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pixel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landing_page_path IS /collections/jaxson-dart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M/D–M/D/YY vs M/D–M/D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APPENDIX · METRIC BIBLE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7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093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metric-bible.md · Week M/D–M/D/YY</a:t>
            </a:r>
            <a:endParaRPr lang="en-US" sz="900" dirty="0"/>
          </a:p>
        </p:txBody>
      </p:sp>
      <p:pic>
        <p:nvPicPr>
          <p:cNvPr id="7" name="Image 0" descr="/home/claude/merch-weekly/assets/psd_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64224"/>
            <a:ext cx="603504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1575" y="6309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A4A4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Metric bible v1.# (# of #)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11094415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011680"/>
          <a:ext cx="10692079" cy="914400"/>
        </p:xfrm>
        <a:graphic>
          <a:graphicData uri="http://schemas.openxmlformats.org/drawingml/2006/table">
            <a:tbl>
              <a:tblPr/>
              <a:tblGrid>
                <a:gridCol w="1710733"/>
                <a:gridCol w="3079319"/>
                <a:gridCol w="2822709"/>
                <a:gridCol w="307931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METRIC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DEFINITION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SOURCE / KEY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A7A7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FILTERS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web storefront sessions (bots included, as in the Daily Flash)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pp.raw.polar_pixel_sessions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PSD Web view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Visited sessions (page)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 that viewed the page at any point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pp.raw.polar_pixel_sessions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Exact-match page_paths_in_session pattern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Landed 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 whose first page was this page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pp.raw.polar_pixel_sessions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landing_page_path IS &lt;path&gt;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Bounce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Landed sessions with one page view and no engagement ÷ landed 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polar_pixel_bounced_sessions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Landing only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Add-to-cart rate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Sessions with an add to cart ÷ sessions, same scope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funnel_product_added_to_cart_sessions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Session-scoped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Conversion rate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Checkout-completed sessions ÷ sessions, same scope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funnel_checkout_completed_sessions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 storefront; app orders excluded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Funnel step / reach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÷ prior step / step ÷ first step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funnel_*_sessions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 filter at every step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Top-# PLPs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/collections/ pages by visited sessions; NEW = not in last week's top #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sessions by page_path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Excludes /products/ paths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Featured collections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# non-core collections by visited sessions, unless Jamie lists them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Polar sessions by page_path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Excludes evergreen list, campaign pages, child pages</a:t>
                      </a:r>
                      <a:endParaRPr lang="en-US" sz="7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PSD Underwear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 Merch Weekly · M/D–M/D/YY</dc:title>
  <dc:subject>PptxGenJS Presentation</dc:subject>
  <dc:creator>PSD Ecom</dc:creator>
  <cp:lastModifiedBy>PSD Ecom</cp:lastModifiedBy>
  <cp:revision>1</cp:revision>
  <dcterms:created xsi:type="dcterms:W3CDTF">2026-10-07T23:45:30Z</dcterms:created>
  <dcterms:modified xsi:type="dcterms:W3CDTF">2026-10-07T23:45:30Z</dcterms:modified>
</cp:coreProperties>
</file>